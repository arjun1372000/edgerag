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147470504" r:id="rId2"/>
    <p:sldId id="2147470505" r:id="rId3"/>
    <p:sldId id="2147470506" r:id="rId4"/>
    <p:sldId id="2147470491" r:id="rId5"/>
    <p:sldId id="2147470494" r:id="rId6"/>
    <p:sldId id="2147470507" r:id="rId7"/>
    <p:sldId id="2147470501" r:id="rId8"/>
    <p:sldId id="2147470498" r:id="rId9"/>
    <p:sldId id="2147470497" r:id="rId10"/>
    <p:sldId id="2147470499" r:id="rId11"/>
    <p:sldId id="2147470508" r:id="rId12"/>
    <p:sldId id="2147470489" r:id="rId13"/>
    <p:sldId id="2147470492" r:id="rId14"/>
    <p:sldId id="2147470493" r:id="rId15"/>
    <p:sldId id="2147470510" r:id="rId16"/>
    <p:sldId id="2147470511" r:id="rId17"/>
    <p:sldId id="2147470512" r:id="rId18"/>
    <p:sldId id="2147470513" r:id="rId19"/>
    <p:sldId id="2147470514" r:id="rId20"/>
    <p:sldId id="2147470515" r:id="rId21"/>
    <p:sldId id="2147470509" r:id="rId22"/>
    <p:sldId id="2147470502" r:id="rId23"/>
    <p:sldId id="214747050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2B6C5-C9B7-4340-97D3-D4760A590CC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F943C-5482-4A61-A0FF-6BF9E4A75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1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943C-5482-4A61-A0FF-6BF9E4A7509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185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855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357505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Industrial rotating machinery is highly dependent on the reliable operation of rolling-element bearings.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Bearing faults can cause unexpected machine downtime, reduced efficiency, increased maintenance costs, and potential equipment failure.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Vibration analysis is a widely used technique for detecting and identifying bearing health conditions.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Traditional AI-based diagnostic systems may produce probabilistic predictions, making their reasoning difficult to validate and reproduce consistently.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This project proposes a Deterministic MCP (Model Context Protocol)-Driven AI Agent for reliable and explainable ball bearing fault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The system uses the NASA Bearing Dataset as the primary source of vibration data for developing and evaluating the diagnostic approach.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735287" y="57036"/>
            <a:ext cx="745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49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357505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To develop a Deterministic MCP-Driven AI Agent for ball bearing health monitoring and fault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</a:t>
            </a:r>
            <a:r>
              <a:rPr lang="en-IN" sz="2400" dirty="0" err="1">
                <a:latin typeface="+mn-lt"/>
              </a:rPr>
              <a:t>analyze</a:t>
            </a:r>
            <a:r>
              <a:rPr lang="en-IN" sz="2400" dirty="0">
                <a:latin typeface="+mn-lt"/>
              </a:rPr>
              <a:t> vibration signals and accurately identify different bearing health conditions.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incorporate ISO-based standards and diagnostic principles into the analysis workflow.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provide consistent, explainable, and reproducible fault identification rather than relying solely on probabilistic outputs.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assist maintenance engineers and reliability teams in making informed maintenance decisions.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reduce the risk of unplanned equipment failures, downtime, and unnecessary maintenance.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46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9BBE3-6CB4-2639-F479-D4BD440A32A4}"/>
              </a:ext>
            </a:extLst>
          </p:cNvPr>
          <p:cNvSpPr txBox="1"/>
          <p:nvPr/>
        </p:nvSpPr>
        <p:spPr>
          <a:xfrm>
            <a:off x="6725264" y="1357505"/>
            <a:ext cx="60981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4. Deterministic Diagnostic Engine</a:t>
            </a:r>
            <a:endParaRPr lang="en-IN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Rule/threshold-based decision logic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Consistent and reproducible diagnosis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ISO-based diagnostic criteria </a:t>
            </a:r>
          </a:p>
          <a:p>
            <a:pPr lvl="0"/>
            <a:endParaRPr lang="en-IN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5. MCP-Driven AI Agent</a:t>
            </a:r>
            <a:endParaRPr lang="en-IN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MCP tools and structured context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Agent-based diagnostic workflow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Explainable reasoning and fault identification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6. Results &amp; Validation</a:t>
            </a:r>
            <a:endParaRPr lang="en-IN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Bearing fault classification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Diagnostic explanation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Accuracy and consistency evaluation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6454FF-9B5F-5325-55EB-6DC7C5C5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89" y="1357505"/>
            <a:ext cx="54768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357505"/>
            <a:ext cx="10624338" cy="4142989"/>
          </a:xfrm>
        </p:spPr>
        <p:txBody>
          <a:bodyPr/>
          <a:lstStyle/>
          <a:p>
            <a:pPr lvl="0"/>
            <a:r>
              <a:rPr lang="en-IN" sz="2400" dirty="0">
                <a:latin typeface="+mn-lt"/>
              </a:rPr>
              <a:t>Unplanned bearing failures can lead to equipment downtime, maintenance costs, and reduced operational reliability. </a:t>
            </a:r>
          </a:p>
          <a:p>
            <a:pPr lvl="0"/>
            <a:r>
              <a:rPr lang="en-IN" sz="2400" dirty="0">
                <a:latin typeface="+mn-lt"/>
              </a:rPr>
              <a:t>Traditional maintenance approaches often rely on fixed schedules or manual inspection, which may miss progressive bearing degradation. </a:t>
            </a:r>
          </a:p>
          <a:p>
            <a:pPr lvl="0"/>
            <a:r>
              <a:rPr lang="en-IN" sz="2400" dirty="0">
                <a:latin typeface="+mn-lt"/>
              </a:rPr>
              <a:t>Vibration data contains important indicators of bearing health and degradation, but raw telemetry is difficult for engineers to interpret continuously. </a:t>
            </a:r>
          </a:p>
          <a:p>
            <a:pPr lvl="0"/>
            <a:r>
              <a:rPr lang="en-IN" sz="2400" dirty="0">
                <a:latin typeface="+mn-lt"/>
              </a:rPr>
              <a:t>Existing predictive models can provide individual predictions, but often lack an interactive decision-support layer that connects diagnostics, trends, and maintenance actions. </a:t>
            </a:r>
          </a:p>
          <a:p>
            <a:pPr lvl="0"/>
            <a:r>
              <a:rPr lang="en-IN" sz="2400" dirty="0">
                <a:latin typeface="+mn-lt"/>
              </a:rPr>
              <a:t>Therefore, there is a need for a system that can </a:t>
            </a:r>
            <a:r>
              <a:rPr lang="en-IN" sz="2400" dirty="0" err="1">
                <a:latin typeface="+mn-lt"/>
              </a:rPr>
              <a:t>analyze</a:t>
            </a:r>
            <a:r>
              <a:rPr lang="en-IN" sz="2400" dirty="0">
                <a:latin typeface="+mn-lt"/>
              </a:rPr>
              <a:t> historical vibration telemetry, assess bearing degradation, compare assets, and assist engineers in making evidence-based maintenance decisions.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920343" y="57036"/>
            <a:ext cx="7271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F0DFD-E269-CF18-BC32-6139B0B9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23C7D-CEAF-3367-0175-1FB57C3CB3B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Modules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4C7C6A-5956-20B3-CD36-84CA555E31B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02FEDA-6EB8-0982-F9B2-A1AC0B7DE389}"/>
              </a:ext>
            </a:extLst>
          </p:cNvPr>
          <p:cNvSpPr txBox="1"/>
          <p:nvPr/>
        </p:nvSpPr>
        <p:spPr>
          <a:xfrm>
            <a:off x="4942115" y="57036"/>
            <a:ext cx="724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4E5C4A-1B22-DE60-648A-94FA9A79E09E}"/>
              </a:ext>
            </a:extLst>
          </p:cNvPr>
          <p:cNvSpPr txBox="1"/>
          <p:nvPr/>
        </p:nvSpPr>
        <p:spPr>
          <a:xfrm>
            <a:off x="4088200" y="1495840"/>
            <a:ext cx="612321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RAW VIBRATION DATA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        ↓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data.py → features.py → build_features.py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        ↓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observations.py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        ↓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health.py → rul.py / rul_model.py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        ↓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api.py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        ↓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mcp_server.py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        ↓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agent.py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        ↓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Maintenance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3116563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843" y="1357505"/>
            <a:ext cx="5678565" cy="4142989"/>
          </a:xfrm>
        </p:spPr>
        <p:txBody>
          <a:bodyPr/>
          <a:lstStyle/>
          <a:p>
            <a:pPr marL="0" indent="0">
              <a:buNone/>
            </a:pPr>
            <a:r>
              <a:rPr lang="en-IN" sz="1800" dirty="0">
                <a:latin typeface="+mn-lt"/>
              </a:rPr>
              <a:t>Data &amp; Feature Processing</a:t>
            </a:r>
          </a:p>
          <a:p>
            <a:pPr lvl="0"/>
            <a:r>
              <a:rPr lang="en-IN" sz="1800" dirty="0">
                <a:latin typeface="+mn-lt"/>
              </a:rPr>
              <a:t>data.py — Dataset ingestion, validation, file discovery and timestamp parsing </a:t>
            </a:r>
          </a:p>
          <a:p>
            <a:pPr lvl="0"/>
            <a:r>
              <a:rPr lang="en-IN" sz="1800" dirty="0">
                <a:latin typeface="+mn-lt"/>
              </a:rPr>
              <a:t>features.py — Extracts RMS, Kurtosis, Peak-to-Peak and Crest Factor </a:t>
            </a:r>
          </a:p>
          <a:p>
            <a:pPr lvl="0"/>
            <a:r>
              <a:rPr lang="en-IN" sz="1800" dirty="0">
                <a:latin typeface="+mn-lt"/>
              </a:rPr>
              <a:t>build_features.py — Processes raw vibration files into structured feature data </a:t>
            </a:r>
          </a:p>
          <a:p>
            <a:pPr lvl="0"/>
            <a:r>
              <a:rPr lang="en-IN" sz="1800" dirty="0">
                <a:latin typeface="+mn-lt"/>
              </a:rPr>
              <a:t>observations.py — Converts feature data into bearing-level observations 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Health &amp; Prognostics</a:t>
            </a:r>
          </a:p>
          <a:p>
            <a:pPr lvl="0"/>
            <a:r>
              <a:rPr lang="en-IN" sz="1800" dirty="0">
                <a:latin typeface="+mn-lt"/>
              </a:rPr>
              <a:t>health.py — Baseline deviation, degradation index and health score calculation </a:t>
            </a:r>
          </a:p>
          <a:p>
            <a:pPr lvl="0"/>
            <a:r>
              <a:rPr lang="en-IN" sz="1800" dirty="0">
                <a:latin typeface="+mn-lt"/>
              </a:rPr>
              <a:t>rul.py — Generates Remaining Useful Life (RUL) targets </a:t>
            </a:r>
          </a:p>
          <a:p>
            <a:pPr lvl="0"/>
            <a:r>
              <a:rPr lang="en-IN" sz="1800" dirty="0">
                <a:latin typeface="+mn-lt"/>
              </a:rPr>
              <a:t>rul_model.py — </a:t>
            </a:r>
            <a:r>
              <a:rPr lang="en-IN" sz="1800" dirty="0" err="1">
                <a:latin typeface="+mn-lt"/>
              </a:rPr>
              <a:t>XGBoost</a:t>
            </a:r>
            <a:r>
              <a:rPr lang="en-IN" sz="1800" dirty="0">
                <a:latin typeface="+mn-lt"/>
              </a:rPr>
              <a:t>-based baseline RUL model and evaluation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Modules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4953001" y="57036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A2E80-DEAF-5F5D-D493-14C686EBE0DF}"/>
              </a:ext>
            </a:extLst>
          </p:cNvPr>
          <p:cNvSpPr txBox="1"/>
          <p:nvPr/>
        </p:nvSpPr>
        <p:spPr>
          <a:xfrm>
            <a:off x="6969442" y="1376067"/>
            <a:ext cx="47273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Application &amp; Agentic Layer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api.py — </a:t>
            </a:r>
            <a:r>
              <a:rPr lang="en-IN" b="1" dirty="0" err="1">
                <a:solidFill>
                  <a:schemeClr val="accent1"/>
                </a:solidFill>
              </a:rPr>
              <a:t>FastAPI</a:t>
            </a:r>
            <a:r>
              <a:rPr lang="en-IN" b="1" dirty="0">
                <a:solidFill>
                  <a:schemeClr val="accent1"/>
                </a:solidFill>
              </a:rPr>
              <a:t> backend for telemetry, historical snapshots and agent requests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mcp_server.py — Exposes health, trend, maintenance and bearing-comparison tools through MCP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agent.py — Llama 3.2 agent for tool orchestration and maintenance-oriented interpretation </a:t>
            </a:r>
          </a:p>
          <a:p>
            <a:pPr lvl="0"/>
            <a:endParaRPr lang="en-IN" b="1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Supporting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__init__.py — Python package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4963887" y="57036"/>
            <a:ext cx="722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57160-852C-AA17-ACB5-7D935B9EC682}"/>
              </a:ext>
            </a:extLst>
          </p:cNvPr>
          <p:cNvSpPr txBox="1"/>
          <p:nvPr/>
        </p:nvSpPr>
        <p:spPr>
          <a:xfrm>
            <a:off x="772885" y="1458687"/>
            <a:ext cx="58782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Algorithms &amp; Approach</a:t>
            </a:r>
          </a:p>
          <a:p>
            <a:pPr>
              <a:buNone/>
            </a:pPr>
            <a:endParaRPr lang="en-IN" b="1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Vibration Feature Extraction:</a:t>
            </a:r>
            <a:r>
              <a:rPr lang="en-IN" dirty="0">
                <a:solidFill>
                  <a:schemeClr val="accent1"/>
                </a:solidFill>
              </a:rPr>
              <a:t> RMS, Kurtosis, Peak-to-Peak, Crest Factor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Health Assessment:</a:t>
            </a:r>
            <a:r>
              <a:rPr lang="en-IN" dirty="0">
                <a:solidFill>
                  <a:schemeClr val="accent1"/>
                </a:solidFill>
              </a:rPr>
              <a:t> Healthy baseline → feature deviation → robust scaling → rolling-median smoothing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Degradation Index:</a:t>
            </a:r>
            <a:r>
              <a:rPr lang="en-IN" dirty="0">
                <a:solidFill>
                  <a:schemeClr val="accent1"/>
                </a:solidFill>
              </a:rPr>
              <a:t> Quantifies deviation from normal bearing </a:t>
            </a:r>
            <a:r>
              <a:rPr lang="en-IN" dirty="0" err="1">
                <a:solidFill>
                  <a:schemeClr val="accent1"/>
                </a:solidFill>
              </a:rPr>
              <a:t>behavior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Health Score:</a:t>
            </a:r>
            <a:r>
              <a:rPr lang="en-IN" dirty="0">
                <a:solidFill>
                  <a:schemeClr val="accent1"/>
                </a:solidFill>
              </a:rPr>
              <a:t> Converts degradation into a bounded </a:t>
            </a:r>
            <a:r>
              <a:rPr lang="en-IN" b="1" dirty="0">
                <a:solidFill>
                  <a:schemeClr val="accent1"/>
                </a:solidFill>
              </a:rPr>
              <a:t>0–100</a:t>
            </a:r>
            <a:r>
              <a:rPr lang="en-IN" dirty="0">
                <a:solidFill>
                  <a:schemeClr val="accent1"/>
                </a:solidFill>
              </a:rPr>
              <a:t> health indicator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Trend Analysis:</a:t>
            </a:r>
            <a:r>
              <a:rPr lang="en-IN" dirty="0">
                <a:solidFill>
                  <a:schemeClr val="accent1"/>
                </a:solidFill>
              </a:rPr>
              <a:t> Recent degradation and health-score slope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RUL Baseline:</a:t>
            </a:r>
            <a:r>
              <a:rPr lang="en-IN" dirty="0">
                <a:solidFill>
                  <a:schemeClr val="accent1"/>
                </a:solidFill>
              </a:rPr>
              <a:t> </a:t>
            </a:r>
            <a:r>
              <a:rPr lang="en-IN" dirty="0" err="1">
                <a:solidFill>
                  <a:schemeClr val="accent1"/>
                </a:solidFill>
              </a:rPr>
              <a:t>XGBoost</a:t>
            </a:r>
            <a:r>
              <a:rPr lang="en-IN" dirty="0">
                <a:solidFill>
                  <a:schemeClr val="accent1"/>
                </a:solidFill>
              </a:rPr>
              <a:t> regression evaluated as an initial prognostic baseline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Agentic Decision Support:</a:t>
            </a:r>
            <a:r>
              <a:rPr lang="en-IN" dirty="0">
                <a:solidFill>
                  <a:schemeClr val="accent1"/>
                </a:solidFill>
              </a:rPr>
              <a:t> MCP tools provide deterministic diagnostics; Llama 3.2 selects/interprets tool outputs 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5AAD68-355E-24F5-B1E4-E411483356AD}"/>
              </a:ext>
            </a:extLst>
          </p:cNvPr>
          <p:cNvSpPr txBox="1"/>
          <p:nvPr/>
        </p:nvSpPr>
        <p:spPr>
          <a:xfrm>
            <a:off x="6651172" y="1458687"/>
            <a:ext cx="45066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Tools &amp; Technologies</a:t>
            </a:r>
          </a:p>
          <a:p>
            <a:pPr>
              <a:buNone/>
            </a:pPr>
            <a:endParaRPr lang="en-IN" b="1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Python:</a:t>
            </a:r>
            <a:r>
              <a:rPr lang="en-IN" dirty="0">
                <a:solidFill>
                  <a:schemeClr val="accent1"/>
                </a:solidFill>
              </a:rPr>
              <a:t> NumPy, Pandas, SciPy, scikit-learn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ML:</a:t>
            </a:r>
            <a:r>
              <a:rPr lang="en-IN" dirty="0">
                <a:solidFill>
                  <a:schemeClr val="accent1"/>
                </a:solidFill>
              </a:rPr>
              <a:t> </a:t>
            </a:r>
            <a:r>
              <a:rPr lang="en-IN" dirty="0" err="1">
                <a:solidFill>
                  <a:schemeClr val="accent1"/>
                </a:solidFill>
              </a:rPr>
              <a:t>XGBoost</a:t>
            </a:r>
            <a:r>
              <a:rPr lang="en-IN" dirty="0">
                <a:solidFill>
                  <a:schemeClr val="accent1"/>
                </a:solidFill>
              </a:rPr>
              <a:t>, </a:t>
            </a:r>
            <a:r>
              <a:rPr lang="en-IN" dirty="0" err="1">
                <a:solidFill>
                  <a:schemeClr val="accent1"/>
                </a:solidFill>
              </a:rPr>
              <a:t>Joblib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Backend:</a:t>
            </a:r>
            <a:r>
              <a:rPr lang="en-IN" dirty="0">
                <a:solidFill>
                  <a:schemeClr val="accent1"/>
                </a:solidFill>
              </a:rPr>
              <a:t> </a:t>
            </a:r>
            <a:r>
              <a:rPr lang="en-IN" dirty="0" err="1">
                <a:solidFill>
                  <a:schemeClr val="accent1"/>
                </a:solidFill>
              </a:rPr>
              <a:t>FastAPI</a:t>
            </a:r>
            <a:r>
              <a:rPr lang="en-IN" dirty="0">
                <a:solidFill>
                  <a:schemeClr val="accent1"/>
                </a:solidFill>
              </a:rPr>
              <a:t>, </a:t>
            </a:r>
            <a:r>
              <a:rPr lang="en-IN" dirty="0" err="1">
                <a:solidFill>
                  <a:schemeClr val="accent1"/>
                </a:solidFill>
              </a:rPr>
              <a:t>Uvicorn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Agentic AI:</a:t>
            </a:r>
            <a:r>
              <a:rPr lang="en-IN" dirty="0">
                <a:solidFill>
                  <a:schemeClr val="accent1"/>
                </a:solidFill>
              </a:rPr>
              <a:t> MCP, </a:t>
            </a:r>
            <a:r>
              <a:rPr lang="en-IN" dirty="0" err="1">
                <a:solidFill>
                  <a:schemeClr val="accent1"/>
                </a:solidFill>
              </a:rPr>
              <a:t>Ollama</a:t>
            </a:r>
            <a:r>
              <a:rPr lang="en-IN" dirty="0">
                <a:solidFill>
                  <a:schemeClr val="accent1"/>
                </a:solidFill>
              </a:rPr>
              <a:t>, Llama 3.2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Frontend:</a:t>
            </a:r>
            <a:r>
              <a:rPr lang="en-IN" dirty="0">
                <a:solidFill>
                  <a:schemeClr val="accent1"/>
                </a:solidFill>
              </a:rPr>
              <a:t> HTML, CSS, JavaScript, Chart.js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Data:</a:t>
            </a:r>
            <a:r>
              <a:rPr lang="en-IN" dirty="0">
                <a:solidFill>
                  <a:schemeClr val="accent1"/>
                </a:solidFill>
              </a:rPr>
              <a:t> NASA IMS Run-to-Failure Bearing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Development:</a:t>
            </a:r>
            <a:r>
              <a:rPr lang="en-IN" dirty="0">
                <a:solidFill>
                  <a:schemeClr val="accent1"/>
                </a:solidFill>
              </a:rPr>
              <a:t> VS Code, Git/GitHub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357505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Processed 984 NASA IMS observations across 4 bearings and extracted key vibration features. </a:t>
            </a:r>
          </a:p>
          <a:p>
            <a:pPr lvl="0"/>
            <a:r>
              <a:rPr lang="en-IN" sz="2400" dirty="0"/>
              <a:t>Developed baseline-relative degradation and health scoring, revealing increasing degradation toward end-of-run. </a:t>
            </a:r>
          </a:p>
          <a:p>
            <a:pPr lvl="0"/>
            <a:r>
              <a:rPr lang="en-IN" sz="2400" dirty="0"/>
              <a:t>At the final observation, Bearing 1 had the highest degradation (73.28) and lowest health score (0.01/100). </a:t>
            </a:r>
          </a:p>
          <a:p>
            <a:pPr lvl="0"/>
            <a:r>
              <a:rPr lang="en-IN" sz="2400" dirty="0"/>
              <a:t>MCP-based diagnostics successfully provide health, trend, maintenance recommendation, and bearing comparison. </a:t>
            </a:r>
          </a:p>
          <a:p>
            <a:pPr lvl="0"/>
            <a:r>
              <a:rPr lang="en-IN" sz="2400" dirty="0"/>
              <a:t>Llama 3.2 + MCP successfully converts deterministic diagnostic results into engineer-facing maintenance insights. </a:t>
            </a:r>
          </a:p>
          <a:p>
            <a:pPr lvl="0"/>
            <a:r>
              <a:rPr lang="en-IN" sz="2400" dirty="0"/>
              <a:t>Initial </a:t>
            </a:r>
            <a:r>
              <a:rPr lang="en-IN" sz="2400" dirty="0" err="1"/>
              <a:t>XGBoost</a:t>
            </a:r>
            <a:r>
              <a:rPr lang="en-IN" sz="2400" dirty="0"/>
              <a:t> RUL baseline was not sufficiently reliable, highlighting the need for trajectory-based prognostics.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357505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Developed an end-to-end predictive maintenance prototype for bearing vibration monitoring using NASA IMS run-to-failure data. </a:t>
            </a:r>
          </a:p>
          <a:p>
            <a:pPr lvl="0"/>
            <a:r>
              <a:rPr lang="en-IN" sz="2400" dirty="0"/>
              <a:t>Combined feature extraction, health/degradation assessment, historical trend analysis, and MCP-based diagnostics into a single workflow. </a:t>
            </a:r>
          </a:p>
          <a:p>
            <a:pPr lvl="0"/>
            <a:r>
              <a:rPr lang="en-IN" sz="2400" dirty="0"/>
              <a:t>The agentic layer enables Llama 3.2 to interpret deterministic engineering results and provide maintenance-oriented insights. </a:t>
            </a:r>
          </a:p>
          <a:p>
            <a:pPr lvl="0"/>
            <a:r>
              <a:rPr lang="en-IN" sz="2400" dirty="0"/>
              <a:t>The system successfully identifies high-priority bearings and supports evidence-based maintenance decisions through an interactive dashboard. </a:t>
            </a:r>
          </a:p>
          <a:p>
            <a:pPr lvl="0"/>
            <a:r>
              <a:rPr lang="en-IN" sz="2400" dirty="0"/>
              <a:t>The initial RUL model highlighted the importance of trajectory-based prognostics, providing a clear direction for future improvement. </a:t>
            </a:r>
          </a:p>
          <a:p>
            <a:pPr lvl="0"/>
            <a:r>
              <a:rPr lang="en-IN" sz="2400" dirty="0"/>
              <a:t>Overall, the project demonstrates how deterministic signal analytics + MCP + local LLM orchestration can form a practical decision-support system for predictive maintenance.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5007429" y="57036"/>
            <a:ext cx="718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70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 for Automated Assembly Lines Using Quantized SLM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357505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Automated assembly lines require rapid and reliable failure diagnosis to minimize downtime.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Machine failures can reduce production efficiency, equipment availability, and operational reliability.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Cloud-based AI solutions may introduce latency, connectivity, and data-dependency constraints.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Large AI models can also be resource-intensive for edge deployment.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This project proposes an Edge-Optimized RAG system to provide localized, knowledge-grounded failure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The system aims to assist operators with real-time failure identification and mitigation recommendations.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735287" y="57036"/>
            <a:ext cx="745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357505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To develop an Edge-Optimized Retrieval-Augmented Generation (RAG) system for machine failure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use a Quantized Small Language Model (SLM) suitable for resource-constrained edge devices.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retrieve relevant failure knowledge and maintenance information from a local knowledge base.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provide localized mitigation recommendations based on the identified failure.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minimize latency, computational requirements, and dependence on cloud connectivity.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support maintenance operators and production engineers in real-time decision-making.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9BBE3-6CB4-2639-F479-D4BD440A32A4}"/>
              </a:ext>
            </a:extLst>
          </p:cNvPr>
          <p:cNvSpPr txBox="1"/>
          <p:nvPr/>
        </p:nvSpPr>
        <p:spPr>
          <a:xfrm>
            <a:off x="6594635" y="1705848"/>
            <a:ext cx="60981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4. Retrieval System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Query → relevant failure knowledge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	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5. Quantized SLM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Retrieved context → grounded response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	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6. Edge Deployment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Low-latency diagnosis → localized mitigation recommendation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7F781-CA5E-9B16-C872-FBCBFD9A17E1}"/>
              </a:ext>
            </a:extLst>
          </p:cNvPr>
          <p:cNvSpPr txBox="1"/>
          <p:nvPr/>
        </p:nvSpPr>
        <p:spPr>
          <a:xfrm>
            <a:off x="985338" y="5681561"/>
            <a:ext cx="1003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accent1"/>
                </a:solidFill>
              </a:rPr>
              <a:t>Machine Data → Failure Detection → Knowledge Retrieval → Quantized SLM → Diagnosis + Mitigation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DEDB7-2584-62F6-C081-4E9BB9ECA3CE}"/>
              </a:ext>
            </a:extLst>
          </p:cNvPr>
          <p:cNvSpPr txBox="1"/>
          <p:nvPr/>
        </p:nvSpPr>
        <p:spPr>
          <a:xfrm>
            <a:off x="620486" y="1705848"/>
            <a:ext cx="56932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1. Data Preparation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AI4I dataset → cleaning → preprocessing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2. Failure Classification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Healthy / HDF / PWF / OSF / TWF / RNF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3. Knowledge Base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Failure descriptions → causes → maintenance procedures</a:t>
            </a:r>
          </a:p>
        </p:txBody>
      </p:sp>
    </p:spTree>
    <p:extLst>
      <p:ext uri="{BB962C8B-B14F-4D97-AF65-F5344CB8AC3E}">
        <p14:creationId xmlns:p14="http://schemas.microsoft.com/office/powerpoint/2010/main" val="31327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E02D-18C9-BD04-3CCE-973EA0366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1A0AB3-E731-1FF0-83E0-87AE241864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357505"/>
            <a:ext cx="10624338" cy="4142989"/>
          </a:xfrm>
        </p:spPr>
        <p:txBody>
          <a:bodyPr/>
          <a:lstStyle/>
          <a:p>
            <a:pPr lvl="0"/>
            <a:r>
              <a:rPr lang="en-IN" sz="2400" dirty="0">
                <a:latin typeface="+mn-lt"/>
              </a:rPr>
              <a:t>Industrial machines generate continuous telemetry, but identifying when a machine is approaching failure and what action to take remains challenging. </a:t>
            </a:r>
          </a:p>
          <a:p>
            <a:pPr lvl="0"/>
            <a:r>
              <a:rPr lang="en-IN" sz="2400" dirty="0">
                <a:latin typeface="+mn-lt"/>
              </a:rPr>
              <a:t>Predictive ML models can detect likely failures, but often do not provide context-aware maintenance guidance. </a:t>
            </a:r>
          </a:p>
          <a:p>
            <a:pPr lvl="0"/>
            <a:r>
              <a:rPr lang="en-IN" sz="2400" dirty="0">
                <a:latin typeface="+mn-lt"/>
              </a:rPr>
              <a:t>Maintenance engineers must manually search through SOPs, diagnostic procedures, safety instructions, and maintenance documents. </a:t>
            </a:r>
          </a:p>
          <a:p>
            <a:pPr lvl="0"/>
            <a:r>
              <a:rPr lang="en-IN" sz="2400" dirty="0">
                <a:latin typeface="+mn-lt"/>
              </a:rPr>
              <a:t>Cloud-based LLM solutions can introduce latency, connectivity, privacy, and deployment constraints in industrial environments. </a:t>
            </a:r>
          </a:p>
          <a:p>
            <a:pPr lvl="0"/>
            <a:r>
              <a:rPr lang="en-IN" sz="2400" dirty="0" err="1">
                <a:latin typeface="+mn-lt"/>
              </a:rPr>
              <a:t>EdgeRAG</a:t>
            </a:r>
            <a:r>
              <a:rPr lang="en-IN" sz="2400" dirty="0">
                <a:latin typeface="+mn-lt"/>
              </a:rPr>
              <a:t> aims to bridge this gap by combining predictive maintenance, local RAG, and an SLM to transform machine telemetry into an evidence-grounded maintenance report locally at the edge.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3FC608-0616-CECE-D1A3-4161A34FD47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409518-FDD6-C46D-40B3-D22E3346DCA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11E0296-441E-625F-8C6B-6E401CAE56B6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239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752E9-9199-B0D1-B8E8-4AF618E8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883C1B-C91E-EFFD-1E80-0F54DDEF0D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8457" y="1357505"/>
            <a:ext cx="5897951" cy="4142989"/>
          </a:xfrm>
        </p:spPr>
        <p:txBody>
          <a:bodyPr/>
          <a:lstStyle/>
          <a:p>
            <a:pPr>
              <a:buNone/>
            </a:pPr>
            <a:r>
              <a:rPr lang="en-IN" sz="1800" u="sng" dirty="0">
                <a:latin typeface="+mn-lt"/>
              </a:rPr>
              <a:t>DATA &amp; MODELING</a:t>
            </a:r>
          </a:p>
          <a:p>
            <a:pPr>
              <a:buNone/>
            </a:pPr>
            <a:endParaRPr lang="en-IN" sz="1800" dirty="0">
              <a:latin typeface="+mn-lt"/>
            </a:endParaRPr>
          </a:p>
          <a:p>
            <a:pPr>
              <a:buNone/>
            </a:pPr>
            <a:r>
              <a:rPr lang="en-IN" sz="1800" dirty="0">
                <a:latin typeface="+mn-lt"/>
              </a:rPr>
              <a:t>validation.py </a:t>
            </a:r>
            <a:r>
              <a:rPr lang="en-IN" sz="1800" b="0" dirty="0">
                <a:latin typeface="+mn-lt"/>
              </a:rPr>
              <a:t>→ dataset quality and label consistency checks</a:t>
            </a:r>
          </a:p>
          <a:p>
            <a:pPr>
              <a:buNone/>
            </a:pPr>
            <a:r>
              <a:rPr lang="en-IN" sz="1800" dirty="0">
                <a:latin typeface="+mn-lt"/>
              </a:rPr>
              <a:t>train.py </a:t>
            </a:r>
            <a:r>
              <a:rPr lang="en-IN" sz="1800" b="0" dirty="0">
                <a:latin typeface="+mn-lt"/>
              </a:rPr>
              <a:t>→ machine-failure and fault-mode model training</a:t>
            </a:r>
          </a:p>
          <a:p>
            <a:pPr>
              <a:buNone/>
            </a:pPr>
            <a:r>
              <a:rPr lang="en-IN" sz="1800" dirty="0">
                <a:latin typeface="+mn-lt"/>
              </a:rPr>
              <a:t>predictor.py </a:t>
            </a:r>
            <a:r>
              <a:rPr lang="en-IN" sz="1800" b="0" dirty="0">
                <a:latin typeface="+mn-lt"/>
              </a:rPr>
              <a:t>→ failure prediction and fault probabilities</a:t>
            </a:r>
          </a:p>
          <a:p>
            <a:pPr>
              <a:buNone/>
            </a:pPr>
            <a:r>
              <a:rPr lang="en-IN" sz="1800" dirty="0">
                <a:latin typeface="+mn-lt"/>
              </a:rPr>
              <a:t>thresholds.py </a:t>
            </a:r>
            <a:r>
              <a:rPr lang="en-IN" sz="1800" b="0" dirty="0">
                <a:latin typeface="+mn-lt"/>
              </a:rPr>
              <a:t>→ F2-based decision threshold selection</a:t>
            </a:r>
          </a:p>
          <a:p>
            <a:pPr>
              <a:buNone/>
            </a:pPr>
            <a:endParaRPr lang="en-IN" sz="1800" dirty="0">
              <a:latin typeface="+mn-lt"/>
            </a:endParaRPr>
          </a:p>
          <a:p>
            <a:pPr>
              <a:buNone/>
            </a:pPr>
            <a:r>
              <a:rPr lang="en-IN" sz="1800" u="sng" dirty="0">
                <a:latin typeface="+mn-lt"/>
              </a:rPr>
              <a:t>INGESTION</a:t>
            </a:r>
          </a:p>
          <a:p>
            <a:pPr>
              <a:buNone/>
            </a:pPr>
            <a:endParaRPr lang="en-IN" sz="1800" dirty="0">
              <a:latin typeface="+mn-lt"/>
            </a:endParaRPr>
          </a:p>
          <a:p>
            <a:pPr>
              <a:buNone/>
            </a:pPr>
            <a:r>
              <a:rPr lang="en-IN" sz="1800" dirty="0">
                <a:latin typeface="+mn-lt"/>
              </a:rPr>
              <a:t>loader.py </a:t>
            </a:r>
            <a:r>
              <a:rPr lang="en-IN" sz="1800" b="0" dirty="0">
                <a:latin typeface="+mn-lt"/>
              </a:rPr>
              <a:t>→ document loading and metadata extraction</a:t>
            </a:r>
          </a:p>
          <a:p>
            <a:pPr>
              <a:buNone/>
            </a:pPr>
            <a:r>
              <a:rPr lang="en-IN" sz="1800" dirty="0">
                <a:latin typeface="+mn-lt"/>
              </a:rPr>
              <a:t>splitter.py </a:t>
            </a:r>
            <a:r>
              <a:rPr lang="en-IN" sz="1800" b="0" dirty="0">
                <a:latin typeface="+mn-lt"/>
              </a:rPr>
              <a:t>→ recursive document chunking</a:t>
            </a:r>
          </a:p>
          <a:p>
            <a:pPr>
              <a:buNone/>
            </a:pPr>
            <a:r>
              <a:rPr lang="en-IN" sz="1800" dirty="0">
                <a:latin typeface="+mn-lt"/>
              </a:rPr>
              <a:t>indexer.py </a:t>
            </a:r>
            <a:r>
              <a:rPr lang="en-IN" sz="1800" b="0" dirty="0">
                <a:latin typeface="+mn-lt"/>
              </a:rPr>
              <a:t>→ embeddings and Chroma vector indexing</a:t>
            </a:r>
          </a:p>
          <a:p>
            <a:pPr>
              <a:buNone/>
            </a:pPr>
            <a:r>
              <a:rPr lang="en-IN" sz="1800" dirty="0">
                <a:latin typeface="+mn-lt"/>
              </a:rPr>
              <a:t>ingest.py </a:t>
            </a:r>
            <a:r>
              <a:rPr lang="en-IN" sz="1800" b="0" dirty="0">
                <a:latin typeface="+mn-lt"/>
              </a:rPr>
              <a:t>→ end-to-end knowledge-base ingestion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1DA5B-DCA3-6628-2B8A-45CD86ABA03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Modules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F3C949-8B7B-5DEF-1350-8B9058112AC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FC9C30B-8214-0905-4CDB-E31E6620E01B}"/>
              </a:ext>
            </a:extLst>
          </p:cNvPr>
          <p:cNvSpPr txBox="1"/>
          <p:nvPr/>
        </p:nvSpPr>
        <p:spPr>
          <a:xfrm>
            <a:off x="4953001" y="57036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F49B07-9276-8C49-6F44-F8DC5AC1C9FF}"/>
              </a:ext>
            </a:extLst>
          </p:cNvPr>
          <p:cNvSpPr txBox="1"/>
          <p:nvPr/>
        </p:nvSpPr>
        <p:spPr>
          <a:xfrm>
            <a:off x="6969442" y="1376067"/>
            <a:ext cx="47273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u="sng" dirty="0">
                <a:solidFill>
                  <a:schemeClr val="accent1"/>
                </a:solidFill>
              </a:rPr>
              <a:t>RETRIEVAL &amp; PIPELINE</a:t>
            </a:r>
          </a:p>
          <a:p>
            <a:pPr>
              <a:buNone/>
            </a:pPr>
            <a:endParaRPr lang="en-IN" b="1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machine_condition.py </a:t>
            </a:r>
            <a:r>
              <a:rPr lang="en-IN" dirty="0">
                <a:solidFill>
                  <a:schemeClr val="accent1"/>
                </a:solidFill>
              </a:rPr>
              <a:t>→ ML output to structured machine condition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b="1" dirty="0">
                <a:solidFill>
                  <a:schemeClr val="accent1"/>
                </a:solidFill>
              </a:rPr>
              <a:t>retriever.py </a:t>
            </a:r>
            <a:r>
              <a:rPr lang="en-IN" dirty="0">
                <a:solidFill>
                  <a:schemeClr val="accent1"/>
                </a:solidFill>
              </a:rPr>
              <a:t>→ semantic retrieval, fault-aware reranking and source diversification</a:t>
            </a:r>
          </a:p>
          <a:p>
            <a:pPr>
              <a:buNone/>
            </a:pPr>
            <a:endParaRPr lang="en-IN" b="1" dirty="0">
              <a:solidFill>
                <a:schemeClr val="accent1"/>
              </a:solidFill>
            </a:endParaRPr>
          </a:p>
          <a:p>
            <a:pPr>
              <a:buNone/>
            </a:pPr>
            <a:endParaRPr lang="en-IN" b="1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GENERATION &amp; APPLICATION</a:t>
            </a:r>
            <a:endParaRPr lang="en-IN" b="1" u="sng" dirty="0">
              <a:solidFill>
                <a:schemeClr val="accent1"/>
              </a:solidFill>
            </a:endParaRPr>
          </a:p>
          <a:p>
            <a:pPr>
              <a:buNone/>
            </a:pPr>
            <a:endParaRPr lang="en-IN" b="1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generator.py </a:t>
            </a:r>
            <a:r>
              <a:rPr lang="en-IN" dirty="0">
                <a:solidFill>
                  <a:schemeClr val="accent1"/>
                </a:solidFill>
              </a:rPr>
              <a:t>→ local SLM-based maintenance report generation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b="1" dirty="0">
                <a:solidFill>
                  <a:schemeClr val="accent1"/>
                </a:solidFill>
              </a:rPr>
              <a:t>main.py </a:t>
            </a:r>
            <a:r>
              <a:rPr lang="en-IN" dirty="0">
                <a:solidFill>
                  <a:schemeClr val="accent1"/>
                </a:solidFill>
              </a:rPr>
              <a:t>→ </a:t>
            </a:r>
            <a:r>
              <a:rPr lang="en-IN" dirty="0" err="1">
                <a:solidFill>
                  <a:schemeClr val="accent1"/>
                </a:solidFill>
              </a:rPr>
              <a:t>FastAPI</a:t>
            </a:r>
            <a:r>
              <a:rPr lang="en-IN" dirty="0">
                <a:solidFill>
                  <a:schemeClr val="accent1"/>
                </a:solidFill>
              </a:rPr>
              <a:t> backend and API endpoints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b="1" dirty="0" err="1">
                <a:solidFill>
                  <a:schemeClr val="accent1"/>
                </a:solidFill>
              </a:rPr>
              <a:t>config.yaml</a:t>
            </a:r>
            <a:r>
              <a:rPr lang="en-IN" b="1" dirty="0">
                <a:solidFill>
                  <a:schemeClr val="accent1"/>
                </a:solidFill>
              </a:rPr>
              <a:t> </a:t>
            </a:r>
            <a:r>
              <a:rPr lang="en-IN" dirty="0">
                <a:solidFill>
                  <a:schemeClr val="accent1"/>
                </a:solidFill>
              </a:rPr>
              <a:t>→ configurable models, chunking and retrieval settings</a:t>
            </a:r>
          </a:p>
        </p:txBody>
      </p:sp>
    </p:spTree>
    <p:extLst>
      <p:ext uri="{BB962C8B-B14F-4D97-AF65-F5344CB8AC3E}">
        <p14:creationId xmlns:p14="http://schemas.microsoft.com/office/powerpoint/2010/main" val="4156752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9CF0-18AC-14A6-0374-3D8EBEF68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3050EF-C763-1D4F-7DA9-8C6F4EB2202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B03A40-0A0A-F392-EB37-94057188FE0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B512EF-17D5-848A-0992-9324D751134E}"/>
              </a:ext>
            </a:extLst>
          </p:cNvPr>
          <p:cNvSpPr txBox="1"/>
          <p:nvPr/>
        </p:nvSpPr>
        <p:spPr>
          <a:xfrm>
            <a:off x="4963887" y="57036"/>
            <a:ext cx="722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4633FD-0AAA-AE8B-5E64-07BF72AB9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430907"/>
              </p:ext>
            </p:extLst>
          </p:nvPr>
        </p:nvGraphicFramePr>
        <p:xfrm>
          <a:off x="688749" y="1234637"/>
          <a:ext cx="11004549" cy="47164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8183">
                  <a:extLst>
                    <a:ext uri="{9D8B030D-6E8A-4147-A177-3AD203B41FA5}">
                      <a16:colId xmlns:a16="http://schemas.microsoft.com/office/drawing/2014/main" val="2437206066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1812762466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142332487"/>
                    </a:ext>
                  </a:extLst>
                </a:gridCol>
              </a:tblGrid>
              <a:tr h="418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Approach /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495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Validation, cleaning &amp; feature preparation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929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Failure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Random Forest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37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Fault Diagnosis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One-vs-Rest classification + F2 threshold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087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RAG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Recursive chunking + metadata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LangChain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922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Local text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Ollama – nomic-embed-text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086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Semantic similarity + fault-aware reranking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Chroma + LangChain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182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Evidence-grounded maintenance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Ollama – Local SLM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76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Local REST API +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solidFill>
                            <a:schemeClr val="accent1"/>
                          </a:solidFill>
                        </a:rPr>
                        <a:t>FastAPI</a:t>
                      </a: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, HTML/CSS/JavaScript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152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13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B588-E594-8FCC-D9F8-4AC45F53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9D6D43-F32C-44CA-ACEC-E920ADBFB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234637"/>
            <a:ext cx="10624338" cy="5035529"/>
          </a:xfrm>
        </p:spPr>
        <p:txBody>
          <a:bodyPr>
            <a:normAutofit lnSpcReduction="10000"/>
          </a:bodyPr>
          <a:lstStyle/>
          <a:p>
            <a:pPr lvl="0"/>
            <a:r>
              <a:rPr lang="en-IN" sz="2400" dirty="0">
                <a:latin typeface="+mn-lt"/>
              </a:rPr>
              <a:t>Random Forest successfully predicts machine failure, achieving a test ROC-AUC of approximately 0.97. </a:t>
            </a:r>
          </a:p>
          <a:p>
            <a:pPr lvl="0"/>
            <a:r>
              <a:rPr lang="en-IN" sz="2400" dirty="0">
                <a:latin typeface="+mn-lt"/>
              </a:rPr>
              <a:t>Fault-specific diagnosis was achieved for major failure modes such as HDF, PWF and OSF, with threshold tuning used to prioritize failure recall. </a:t>
            </a:r>
          </a:p>
          <a:p>
            <a:pPr lvl="0"/>
            <a:r>
              <a:rPr lang="en-IN" sz="2400" dirty="0">
                <a:latin typeface="+mn-lt"/>
              </a:rPr>
              <a:t>Metadata-aware RAG retrieval improved fault relevance compared with semantic-only retrieval, placing the relevant failure SOP and supporting maintenance documents among the top results. </a:t>
            </a:r>
          </a:p>
          <a:p>
            <a:pPr lvl="0"/>
            <a:r>
              <a:rPr lang="en-IN" sz="2400" dirty="0">
                <a:latin typeface="+mn-lt"/>
              </a:rPr>
              <a:t>The local SLM generates maintenance incident reports grounded in retrieved industrial knowledge, including diagnostic assessment, actions, escalation and restart guidance. </a:t>
            </a:r>
          </a:p>
          <a:p>
            <a:pPr lvl="0"/>
            <a:r>
              <a:rPr lang="en-IN" sz="2400" dirty="0">
                <a:latin typeface="+mn-lt"/>
              </a:rPr>
              <a:t>The system operates locally using </a:t>
            </a:r>
            <a:r>
              <a:rPr lang="en-IN" sz="2400" dirty="0" err="1">
                <a:latin typeface="+mn-lt"/>
              </a:rPr>
              <a:t>Ollama</a:t>
            </a:r>
            <a:r>
              <a:rPr lang="en-IN" sz="2400" dirty="0">
                <a:latin typeface="+mn-lt"/>
              </a:rPr>
              <a:t>, Chroma and </a:t>
            </a:r>
            <a:r>
              <a:rPr lang="en-IN" sz="2400" dirty="0" err="1">
                <a:latin typeface="+mn-lt"/>
              </a:rPr>
              <a:t>FastAPI</a:t>
            </a:r>
            <a:r>
              <a:rPr lang="en-IN" sz="2400" dirty="0">
                <a:latin typeface="+mn-lt"/>
              </a:rPr>
              <a:t>, avoiding dependence on cloud inference during operation. </a:t>
            </a:r>
          </a:p>
          <a:p>
            <a:pPr lvl="0"/>
            <a:r>
              <a:rPr lang="en-IN" sz="2400" dirty="0">
                <a:latin typeface="+mn-lt"/>
              </a:rPr>
              <a:t>TWF prediction and SLM grounding remain limitations, highlighting areas for further model and evaluation refinement.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F34825-00E3-07C2-3C79-3F899C9AAE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F84ECF-AD30-1AA6-63BE-B29F8DFA97B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62C8F-AE0D-9F32-198F-8955FF0BB4B5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39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B40AF-BE95-C09E-6B15-D6106DA0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B50CA7-B697-C3FA-C350-049E7DE4C5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357505"/>
            <a:ext cx="10624338" cy="4705831"/>
          </a:xfrm>
        </p:spPr>
        <p:txBody>
          <a:bodyPr>
            <a:normAutofit lnSpcReduction="10000"/>
          </a:bodyPr>
          <a:lstStyle/>
          <a:p>
            <a:pPr lvl="0"/>
            <a:r>
              <a:rPr lang="en-IN" sz="2400" dirty="0" err="1">
                <a:latin typeface="+mn-lt"/>
              </a:rPr>
              <a:t>EdgeRAG</a:t>
            </a:r>
            <a:r>
              <a:rPr lang="en-IN" sz="2400" dirty="0">
                <a:latin typeface="+mn-lt"/>
              </a:rPr>
              <a:t> successfully integrates predictive maintenance, RAG and local SLM generation into a single end-to-end system. </a:t>
            </a:r>
          </a:p>
          <a:p>
            <a:pPr lvl="0"/>
            <a:r>
              <a:rPr lang="en-IN" sz="2400" dirty="0">
                <a:latin typeface="+mn-lt"/>
              </a:rPr>
              <a:t>Machine telemetry is transformed into failure predictions and fault diagnoses, which guide retrieval of relevant maintenance knowledge. </a:t>
            </a:r>
          </a:p>
          <a:p>
            <a:pPr lvl="0"/>
            <a:r>
              <a:rPr lang="en-IN" sz="2400" dirty="0">
                <a:latin typeface="+mn-lt"/>
              </a:rPr>
              <a:t>Chroma-based local RAG provides supporting SOPs, diagnostic procedures and maintenance guidance to the generation layer. </a:t>
            </a:r>
          </a:p>
          <a:p>
            <a:pPr lvl="0"/>
            <a:r>
              <a:rPr lang="en-IN" sz="2400" dirty="0">
                <a:latin typeface="+mn-lt"/>
              </a:rPr>
              <a:t>A local SLM through </a:t>
            </a:r>
            <a:r>
              <a:rPr lang="en-IN" sz="2400" dirty="0" err="1">
                <a:latin typeface="+mn-lt"/>
              </a:rPr>
              <a:t>Ollama</a:t>
            </a:r>
            <a:r>
              <a:rPr lang="en-IN" sz="2400" dirty="0">
                <a:latin typeface="+mn-lt"/>
              </a:rPr>
              <a:t> converts the retrieved evidence and machine condition into an actionable maintenance report. </a:t>
            </a:r>
          </a:p>
          <a:p>
            <a:pPr lvl="0"/>
            <a:r>
              <a:rPr lang="en-IN" sz="2400" dirty="0">
                <a:latin typeface="+mn-lt"/>
              </a:rPr>
              <a:t>The local-first architecture demonstrates the feasibility of privacy-preserving, low-dependency AI assistance for edge industrial environments. </a:t>
            </a:r>
          </a:p>
          <a:p>
            <a:pPr lvl="0"/>
            <a:r>
              <a:rPr lang="en-IN" sz="2400" dirty="0">
                <a:latin typeface="+mn-lt"/>
              </a:rPr>
              <a:t>The project establishes a practical foundation for future improvements in model efficiency, retrieval evaluation, SLM grounding and edge deployment performance.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73654-37C7-6434-DCC8-5F4337D61F4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9102B9-7FDF-41E4-785C-9038150C5BB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685139A-D439-183F-20CC-F0C504F5965A}"/>
              </a:ext>
            </a:extLst>
          </p:cNvPr>
          <p:cNvSpPr txBox="1"/>
          <p:nvPr/>
        </p:nvSpPr>
        <p:spPr>
          <a:xfrm>
            <a:off x="5007429" y="57036"/>
            <a:ext cx="718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65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792A-9F3C-18E2-8B2D-56DD56EE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500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2001</Words>
  <Application>Microsoft Office PowerPoint</Application>
  <PresentationFormat>Widescreen</PresentationFormat>
  <Paragraphs>253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Arjun VP</cp:lastModifiedBy>
  <cp:revision>15</cp:revision>
  <dcterms:created xsi:type="dcterms:W3CDTF">2024-05-13T10:33:11Z</dcterms:created>
  <dcterms:modified xsi:type="dcterms:W3CDTF">2026-10-08T06:39:23Z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