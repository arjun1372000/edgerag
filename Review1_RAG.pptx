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5" r:id="rId6"/>
    <p:sldId id="2147470496" r:id="rId7"/>
    <p:sldId id="2147470500" r:id="rId8"/>
    <p:sldId id="2147470497" r:id="rId9"/>
    <p:sldId id="2147470498" r:id="rId10"/>
    <p:sldId id="2147470499" r:id="rId11"/>
    <p:sldId id="214747049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 for Automated Assembly Lines Using Quantized SLM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fr-FR" sz="2400" b="1" dirty="0">
                <a:solidFill>
                  <a:prstClr val="white"/>
                </a:solidFill>
                <a:cs typeface="Calibri" panose="020F0502020204030204" pitchFamily="34" charset="0"/>
              </a:rPr>
              <a:t>Arjun V P</a:t>
            </a:r>
          </a:p>
          <a:p>
            <a:pPr lvl="0" algn="ctr">
              <a:defRPr/>
            </a:pPr>
            <a:r>
              <a:rPr lang="fr-FR" sz="2400" b="1" dirty="0">
                <a:solidFill>
                  <a:prstClr val="white"/>
                </a:solidFill>
                <a:cs typeface="Calibri" panose="020F0502020204030204" pitchFamily="34" charset="0"/>
              </a:rPr>
              <a:t>T9987</a:t>
            </a:r>
          </a:p>
          <a:p>
            <a:pPr lvl="0" algn="ctr">
              <a:defRPr/>
            </a:pPr>
            <a:r>
              <a:rPr lang="fr-FR" sz="2400" b="1" dirty="0">
                <a:solidFill>
                  <a:prstClr val="white"/>
                </a:solidFill>
                <a:cs typeface="Calibri" panose="020F0502020204030204" pitchFamily="34" charset="0"/>
              </a:rPr>
              <a:t>VIT Chennai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Automated assembly lines require rapid and reliable failure diagnosis to minimize downtime.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Machine failures can reduce production efficiency, equipment availability, and operational reliability.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Cloud-based AI solutions may introduce latency, connectivity, and data-dependency constraints.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Large AI models can also be resource-intensive for edge deployment.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This project proposes an Edge-Optimized RAG system to provide localized, knowledge-grounded failure diagnosis.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The system aims to assist operators with real-time failure identification and mitigation recommendations.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4735287" y="57036"/>
            <a:ext cx="7456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To develop an Edge-Optimized Retrieval-Augmented Generation (RAG) system for machine failure diagnosis.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use a Quantized Small Language Model (SLM) suitable for resource-constrained edge devices.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retrieve relevant failure knowledge and maintenance information from a local knowledge base.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provide localized mitigation recommendations based on the identified failure.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minimize latency, computational requirements, and dependence on cloud connectivity.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To support maintenance operators and production engineers in real-time decision-making.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4931229" y="57036"/>
            <a:ext cx="726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Dataset: AI4I 2020 Predictive Maintenance Dataset with 10,000 machine records and 14 attributes.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Input Parameters: Temperature, rotational speed, torque, tool wear, and machine operating conditions.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Failure Analysis: Classification of TWF, HDF, PWF, OSF, and RNF failure modes.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Knowledge Retrieval: Retrieve relevant failure information and maintenance actions from a local knowledge base.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Edge AI: Use a quantized SLM to reduce memory and computational requirements.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Output: Failure identification with localized mitigation recommendations.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Application: Real-time support for automated assembly-line maintenance.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4898571" y="57036"/>
            <a:ext cx="7293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4909457" y="57036"/>
            <a:ext cx="7282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E2AC2D-058B-2C5A-78FA-46955F8194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805189"/>
              </p:ext>
            </p:extLst>
          </p:nvPr>
        </p:nvGraphicFramePr>
        <p:xfrm>
          <a:off x="370114" y="1336151"/>
          <a:ext cx="11451771" cy="49592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7257">
                  <a:extLst>
                    <a:ext uri="{9D8B030D-6E8A-4147-A177-3AD203B41FA5}">
                      <a16:colId xmlns:a16="http://schemas.microsoft.com/office/drawing/2014/main" val="4034956797"/>
                    </a:ext>
                  </a:extLst>
                </a:gridCol>
                <a:gridCol w="3817257">
                  <a:extLst>
                    <a:ext uri="{9D8B030D-6E8A-4147-A177-3AD203B41FA5}">
                      <a16:colId xmlns:a16="http://schemas.microsoft.com/office/drawing/2014/main" val="2586803103"/>
                    </a:ext>
                  </a:extLst>
                </a:gridCol>
                <a:gridCol w="3817257">
                  <a:extLst>
                    <a:ext uri="{9D8B030D-6E8A-4147-A177-3AD203B41FA5}">
                      <a16:colId xmlns:a16="http://schemas.microsoft.com/office/drawing/2014/main" val="3979886806"/>
                    </a:ext>
                  </a:extLst>
                </a:gridCol>
              </a:tblGrid>
              <a:tr h="323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>
                          <a:solidFill>
                            <a:schemeClr val="tx2"/>
                          </a:solidFill>
                        </a:rPr>
                        <a:t>Study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>
                          <a:solidFill>
                            <a:schemeClr val="tx2"/>
                          </a:solidFill>
                        </a:rPr>
                        <a:t>Focus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>
                          <a:solidFill>
                            <a:schemeClr val="tx2"/>
                          </a:solidFill>
                        </a:rPr>
                        <a:t>Key Finding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4747259"/>
                  </a:ext>
                </a:extLst>
              </a:tr>
              <a:tr h="809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Lewis et al. (2020)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 dirty="0">
                          <a:solidFill>
                            <a:schemeClr val="accent1"/>
                          </a:solidFill>
                        </a:rPr>
                        <a:t>Retrieval-Augmented 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 dirty="0">
                          <a:solidFill>
                            <a:schemeClr val="accent1"/>
                          </a:solidFill>
                        </a:rPr>
                        <a:t>RAG improves generation by grounding responses in retrieved external knowledge.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863541"/>
                  </a:ext>
                </a:extLst>
              </a:tr>
              <a:tr h="809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Guu et al. (2020)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 dirty="0">
                          <a:solidFill>
                            <a:schemeClr val="accent1"/>
                          </a:solidFill>
                        </a:rPr>
                        <a:t>Retrieval-Augmented Language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Demonstrated improved knowledge-intensive task performance using retrieved information.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0549865"/>
                  </a:ext>
                </a:extLst>
              </a:tr>
              <a:tr h="8562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Lewis et al. (2021)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 dirty="0">
                          <a:solidFill>
                            <a:schemeClr val="accent1"/>
                          </a:solidFill>
                        </a:rPr>
                        <a:t>RAG applications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Showed the usefulness of retrieval-based generation for knowledge-intensive applications.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3289557"/>
                  </a:ext>
                </a:extLst>
              </a:tr>
              <a:tr h="1052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Dettmers et al. (2023)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Quantized LLMs / QLoRA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Demonstrated that quantization can significantly reduce memory requirements while retaining useful model performance.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0859295"/>
                  </a:ext>
                </a:extLst>
              </a:tr>
              <a:tr h="1052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Edge AI / TinyML research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>
                          <a:solidFill>
                            <a:schemeClr val="accent1"/>
                          </a:solidFill>
                        </a:rPr>
                        <a:t>On-device intelligence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0" i="1" dirty="0">
                          <a:solidFill>
                            <a:schemeClr val="accent1"/>
                          </a:solidFill>
                        </a:rPr>
                        <a:t>Highlights low latency, reduced connectivity dependence, and resource efficiency as major advantages of edge deployment.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7529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342900" lvl="0" indent="-342900"/>
            <a:r>
              <a:rPr lang="en-IN" sz="2400" dirty="0">
                <a:latin typeface="+mn-lt"/>
              </a:rPr>
              <a:t>RAG improves AI responses by grounding generation in retrieved domain knowledge.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Quantization enables language models to operate with significantly lower memory requirements.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Edge-based AI provides advantages in latency, connectivity independence, and data locality.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Existing work largely studies RAG and edge AI independently. </a:t>
            </a:r>
          </a:p>
          <a:p>
            <a:pPr marL="342900" lvl="0" indent="-342900"/>
            <a:r>
              <a:rPr lang="en-IN" sz="2400" dirty="0">
                <a:latin typeface="+mn-lt"/>
              </a:rPr>
              <a:t>Research Gap: Combining RAG with a quantized SLM for localized, real-time industrial failure mitigation remains an important application area.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4757057" y="57036"/>
            <a:ext cx="7434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63D4-EC41-491A-8B39-D8580ACFA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28C21A-5318-9908-3363-9415BA93EF35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EE2894D-24BA-57C3-E33B-988C30CE65A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4B208DC-9BF5-55B7-76CE-649E73F232D1}"/>
              </a:ext>
            </a:extLst>
          </p:cNvPr>
          <p:cNvSpPr txBox="1"/>
          <p:nvPr/>
        </p:nvSpPr>
        <p:spPr>
          <a:xfrm>
            <a:off x="4822371" y="57036"/>
            <a:ext cx="7369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E8B862-D5CD-A3C2-B181-220D5EB1D726}"/>
              </a:ext>
            </a:extLst>
          </p:cNvPr>
          <p:cNvSpPr txBox="1"/>
          <p:nvPr/>
        </p:nvSpPr>
        <p:spPr>
          <a:xfrm>
            <a:off x="816429" y="1676400"/>
            <a:ext cx="107224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/>
                </a:solidFill>
              </a:rPr>
              <a:t>Dataset contains </a:t>
            </a:r>
            <a:r>
              <a:rPr lang="en-IN" sz="2400" b="1" dirty="0">
                <a:solidFill>
                  <a:schemeClr val="accent1"/>
                </a:solidFill>
              </a:rPr>
              <a:t>10,000 records and 14 features</a:t>
            </a:r>
            <a:r>
              <a:rPr lang="en-IN" sz="2400" dirty="0">
                <a:solidFill>
                  <a:schemeClr val="accent1"/>
                </a:solidFill>
              </a:rPr>
              <a:t>, with no missing values.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/>
                </a:solidFill>
              </a:rPr>
              <a:t>Five specific failure modes are </a:t>
            </a:r>
            <a:r>
              <a:rPr lang="en-IN" sz="2400" dirty="0" err="1">
                <a:solidFill>
                  <a:schemeClr val="accent1"/>
                </a:solidFill>
              </a:rPr>
              <a:t>analyzed</a:t>
            </a:r>
            <a:r>
              <a:rPr lang="en-IN" sz="2400" dirty="0">
                <a:solidFill>
                  <a:schemeClr val="accent1"/>
                </a:solidFill>
              </a:rPr>
              <a:t>: </a:t>
            </a:r>
            <a:r>
              <a:rPr lang="en-IN" sz="2400" b="1" dirty="0">
                <a:solidFill>
                  <a:schemeClr val="accent1"/>
                </a:solidFill>
              </a:rPr>
              <a:t>TWF, HDF, PWF, OSF and RNF</a:t>
            </a:r>
            <a:r>
              <a:rPr lang="en-IN" sz="2400" dirty="0">
                <a:solidFill>
                  <a:schemeClr val="accent1"/>
                </a:solidFill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/>
                </a:solidFill>
              </a:rPr>
              <a:t>Sensor telemetry includes </a:t>
            </a:r>
            <a:r>
              <a:rPr lang="en-IN" sz="2400" b="1" dirty="0">
                <a:solidFill>
                  <a:schemeClr val="accent1"/>
                </a:solidFill>
              </a:rPr>
              <a:t>temperature, rotational speed, torque and tool wear</a:t>
            </a:r>
            <a:r>
              <a:rPr lang="en-IN" sz="2400" dirty="0">
                <a:solidFill>
                  <a:schemeClr val="accent1"/>
                </a:solidFill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/>
                </a:solidFill>
              </a:rPr>
              <a:t>Correlation analysis identifies relationships among the machine's physical operating parameters.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1"/>
                </a:solidFill>
              </a:rPr>
              <a:t>Torque vs. RPM analysis</a:t>
            </a:r>
            <a:r>
              <a:rPr lang="en-IN" sz="2400" dirty="0">
                <a:solidFill>
                  <a:schemeClr val="accent1"/>
                </a:solidFill>
              </a:rPr>
              <a:t> helps identify operating regions associated with mechanical failures.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/>
                </a:solidFill>
              </a:rPr>
              <a:t>The dataset is highly imbalanced: </a:t>
            </a:r>
            <a:r>
              <a:rPr lang="en-IN" sz="2400" b="1" dirty="0">
                <a:solidFill>
                  <a:schemeClr val="accent1"/>
                </a:solidFill>
              </a:rPr>
              <a:t>9,652 healthy records vs. 348 failure records</a:t>
            </a:r>
            <a:r>
              <a:rPr lang="en-IN" sz="2400" dirty="0">
                <a:solidFill>
                  <a:schemeClr val="accent1"/>
                </a:solidFill>
              </a:rPr>
              <a:t> across the five failure classes.</a:t>
            </a:r>
          </a:p>
        </p:txBody>
      </p:sp>
    </p:spTree>
    <p:extLst>
      <p:ext uri="{BB962C8B-B14F-4D97-AF65-F5344CB8AC3E}">
        <p14:creationId xmlns:p14="http://schemas.microsoft.com/office/powerpoint/2010/main" val="1986815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4822371" y="57036"/>
            <a:ext cx="7369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0C6DD-015B-9F04-4937-96EB7AE29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686" y="1447801"/>
            <a:ext cx="9252856" cy="462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44522-93D0-56DE-F00E-368F1D194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366128-45E6-F449-B97C-8F6A5912FD7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967D56-8EA6-8008-A1ED-84287891746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16112F4-49ED-C2AF-7378-632D426137C0}"/>
              </a:ext>
            </a:extLst>
          </p:cNvPr>
          <p:cNvSpPr txBox="1"/>
          <p:nvPr/>
        </p:nvSpPr>
        <p:spPr>
          <a:xfrm>
            <a:off x="4887687" y="57036"/>
            <a:ext cx="7304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14681F-AFFE-4813-3995-7B8C44944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95" y="1847983"/>
            <a:ext cx="5348490" cy="3469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8CC9EC-542D-7A0A-7369-684355D50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217" y="1606049"/>
            <a:ext cx="5079027" cy="3953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08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6ABD2-0476-C80A-5B6C-C61938D47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C5ECF4-04E7-F038-5896-EE40C4C8CD7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Exploratory Data Analysis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E10107D-82B3-2544-D60E-EA8EFE1E78C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5722AD0-EA01-9FE5-AADE-8DCC598C547C}"/>
              </a:ext>
            </a:extLst>
          </p:cNvPr>
          <p:cNvSpPr txBox="1"/>
          <p:nvPr/>
        </p:nvSpPr>
        <p:spPr>
          <a:xfrm>
            <a:off x="4931229" y="57036"/>
            <a:ext cx="726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990CE6-0994-EC18-188C-04ECC09905E4}"/>
              </a:ext>
            </a:extLst>
          </p:cNvPr>
          <p:cNvSpPr txBox="1"/>
          <p:nvPr/>
        </p:nvSpPr>
        <p:spPr>
          <a:xfrm>
            <a:off x="255996" y="1594385"/>
            <a:ext cx="512154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1"/>
                </a:solidFill>
              </a:rPr>
              <a:t>Resultant Feature Dataset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Raw machine telemetry was converted into a </a:t>
            </a:r>
            <a:r>
              <a:rPr lang="en-IN" b="1" dirty="0">
                <a:solidFill>
                  <a:schemeClr val="accent1"/>
                </a:solidFill>
              </a:rPr>
              <a:t>structured modelling dataset</a:t>
            </a:r>
            <a:r>
              <a:rPr lang="en-IN" dirty="0">
                <a:solidFill>
                  <a:schemeClr val="accent1"/>
                </a:solidFill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Irrelevant identifiers such as </a:t>
            </a:r>
            <a:r>
              <a:rPr lang="en-IN" b="1" dirty="0">
                <a:solidFill>
                  <a:schemeClr val="accent1"/>
                </a:solidFill>
              </a:rPr>
              <a:t>UDI and Product ID</a:t>
            </a:r>
            <a:r>
              <a:rPr lang="en-IN" dirty="0">
                <a:solidFill>
                  <a:schemeClr val="accent1"/>
                </a:solidFill>
              </a:rPr>
              <a:t> were removed.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Machine </a:t>
            </a:r>
            <a:r>
              <a:rPr lang="en-IN" dirty="0">
                <a:solidFill>
                  <a:schemeClr val="accent1"/>
                </a:solidFill>
                <a:latin typeface="Courier New" panose="02070309020205020404" pitchFamily="49" charset="0"/>
              </a:rPr>
              <a:t>Type</a:t>
            </a:r>
            <a:r>
              <a:rPr lang="en-IN" dirty="0">
                <a:solidFill>
                  <a:schemeClr val="accent1"/>
                </a:solidFill>
              </a:rPr>
              <a:t> was converted into a numerical representation for modelling.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The original failure indicators were consolidated into a </a:t>
            </a:r>
            <a:r>
              <a:rPr lang="en-IN" b="1" dirty="0">
                <a:solidFill>
                  <a:schemeClr val="accent1"/>
                </a:solidFill>
              </a:rPr>
              <a:t>single </a:t>
            </a:r>
            <a:r>
              <a:rPr lang="en-IN" b="1" dirty="0" err="1">
                <a:solidFill>
                  <a:schemeClr val="accent1"/>
                </a:solidFill>
              </a:rPr>
              <a:t>Fault_Class</a:t>
            </a:r>
            <a:r>
              <a:rPr lang="en-IN" b="1" dirty="0">
                <a:solidFill>
                  <a:schemeClr val="accent1"/>
                </a:solidFill>
              </a:rPr>
              <a:t> target</a:t>
            </a:r>
            <a:r>
              <a:rPr lang="en-IN" dirty="0">
                <a:solidFill>
                  <a:schemeClr val="accent1"/>
                </a:solidFill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/>
                </a:solidFill>
              </a:rPr>
              <a:t>Final classes include: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Healthy — 9,652</a:t>
            </a:r>
            <a:r>
              <a:rPr lang="en-IN" dirty="0">
                <a:solidFill>
                  <a:schemeClr val="accent1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HDF — 115</a:t>
            </a:r>
            <a:r>
              <a:rPr lang="en-IN" dirty="0">
                <a:solidFill>
                  <a:schemeClr val="accent1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PWF — 91</a:t>
            </a:r>
            <a:r>
              <a:rPr lang="en-IN" dirty="0">
                <a:solidFill>
                  <a:schemeClr val="accent1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OSF — 78</a:t>
            </a:r>
            <a:r>
              <a:rPr lang="en-IN" dirty="0">
                <a:solidFill>
                  <a:schemeClr val="accent1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TWF — 46</a:t>
            </a:r>
            <a:r>
              <a:rPr lang="en-IN" dirty="0">
                <a:solidFill>
                  <a:schemeClr val="accent1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/>
                </a:solidFill>
              </a:rPr>
              <a:t>RNF — 18</a:t>
            </a:r>
            <a:r>
              <a:rPr lang="en-IN" dirty="0">
                <a:solidFill>
                  <a:schemeClr val="accent1"/>
                </a:solidFill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477D35-822D-810F-148F-0F1D441A5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359" y="1638168"/>
            <a:ext cx="6360510" cy="402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685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4898571" y="57036"/>
            <a:ext cx="7293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GB" b="1" dirty="0">
                <a:solidFill>
                  <a:prstClr val="white"/>
                </a:solidFill>
                <a:cs typeface="Calibri" panose="020F0502020204030204" pitchFamily="34" charset="0"/>
              </a:rPr>
              <a:t>Edge-Optimized RAG and Localized Failure Mitigation</a:t>
            </a:r>
            <a:endParaRPr lang="en-US" b="1" dirty="0">
              <a:solidFill>
                <a:prstClr val="white"/>
              </a:solidFill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69BBE3-6CB4-2639-F479-D4BD440A32A4}"/>
              </a:ext>
            </a:extLst>
          </p:cNvPr>
          <p:cNvSpPr txBox="1"/>
          <p:nvPr/>
        </p:nvSpPr>
        <p:spPr>
          <a:xfrm>
            <a:off x="6594635" y="1705848"/>
            <a:ext cx="609810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1"/>
                </a:solidFill>
              </a:rPr>
              <a:t>4. Retrieval System</a:t>
            </a:r>
            <a:br>
              <a:rPr lang="en-IN" sz="2000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Query → relevant failure knowledge</a:t>
            </a:r>
          </a:p>
          <a:p>
            <a:pPr>
              <a:buNone/>
            </a:pPr>
            <a:r>
              <a:rPr lang="en-IN" sz="2000" dirty="0">
                <a:solidFill>
                  <a:schemeClr val="accent1"/>
                </a:solidFill>
              </a:rPr>
              <a:t>	↓</a:t>
            </a:r>
          </a:p>
          <a:p>
            <a:pPr>
              <a:buNone/>
            </a:pPr>
            <a:r>
              <a:rPr lang="en-IN" sz="2000" b="1" dirty="0">
                <a:solidFill>
                  <a:schemeClr val="accent1"/>
                </a:solidFill>
              </a:rPr>
              <a:t>5. Quantized SLM</a:t>
            </a:r>
            <a:br>
              <a:rPr lang="en-IN" sz="2000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Retrieved context → grounded response</a:t>
            </a:r>
          </a:p>
          <a:p>
            <a:pPr>
              <a:buNone/>
            </a:pPr>
            <a:r>
              <a:rPr lang="en-IN" sz="2000" dirty="0">
                <a:solidFill>
                  <a:schemeClr val="accent1"/>
                </a:solidFill>
              </a:rPr>
              <a:t>	↓</a:t>
            </a:r>
          </a:p>
          <a:p>
            <a:pPr>
              <a:buNone/>
            </a:pPr>
            <a:r>
              <a:rPr lang="en-IN" sz="2000" b="1" dirty="0">
                <a:solidFill>
                  <a:schemeClr val="accent1"/>
                </a:solidFill>
              </a:rPr>
              <a:t>6. Edge Deployment</a:t>
            </a:r>
            <a:br>
              <a:rPr lang="en-IN" sz="2000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Low-latency diagnosis → localized mitigation recommendation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D7F781-CA5E-9B16-C872-FBCBFD9A17E1}"/>
              </a:ext>
            </a:extLst>
          </p:cNvPr>
          <p:cNvSpPr txBox="1"/>
          <p:nvPr/>
        </p:nvSpPr>
        <p:spPr>
          <a:xfrm>
            <a:off x="985338" y="5681561"/>
            <a:ext cx="10031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i="1" dirty="0">
                <a:solidFill>
                  <a:schemeClr val="accent1"/>
                </a:solidFill>
              </a:rPr>
              <a:t>Machine Data → Failure Detection → Knowledge Retrieval → Quantized SLM → Diagnosis + Mitigation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DDEDB7-2584-62F6-C081-4E9BB9ECA3CE}"/>
              </a:ext>
            </a:extLst>
          </p:cNvPr>
          <p:cNvSpPr txBox="1"/>
          <p:nvPr/>
        </p:nvSpPr>
        <p:spPr>
          <a:xfrm>
            <a:off x="620486" y="1705848"/>
            <a:ext cx="56932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1"/>
                </a:solidFill>
              </a:rPr>
              <a:t>1. Data Preparation</a:t>
            </a:r>
            <a:br>
              <a:rPr lang="en-IN" sz="2000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AI4I dataset → cleaning → preprocessing</a:t>
            </a:r>
          </a:p>
          <a:p>
            <a:pPr>
              <a:buNone/>
            </a:pPr>
            <a:r>
              <a:rPr lang="en-IN" sz="2000" dirty="0">
                <a:solidFill>
                  <a:schemeClr val="accent1"/>
                </a:solidFill>
              </a:rPr>
              <a:t>↓</a:t>
            </a:r>
          </a:p>
          <a:p>
            <a:pPr>
              <a:buNone/>
            </a:pPr>
            <a:r>
              <a:rPr lang="en-IN" sz="2000" b="1" dirty="0">
                <a:solidFill>
                  <a:schemeClr val="accent1"/>
                </a:solidFill>
              </a:rPr>
              <a:t>2. Failure Classification</a:t>
            </a:r>
            <a:br>
              <a:rPr lang="en-IN" sz="2000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Healthy / HDF / PWF / OSF / TWF / RNF</a:t>
            </a:r>
          </a:p>
          <a:p>
            <a:pPr>
              <a:buNone/>
            </a:pPr>
            <a:r>
              <a:rPr lang="en-IN" sz="2000" dirty="0">
                <a:solidFill>
                  <a:schemeClr val="accent1"/>
                </a:solidFill>
              </a:rPr>
              <a:t>↓</a:t>
            </a:r>
          </a:p>
          <a:p>
            <a:pPr>
              <a:buNone/>
            </a:pPr>
            <a:r>
              <a:rPr lang="en-IN" sz="2000" b="1" dirty="0">
                <a:solidFill>
                  <a:schemeClr val="accent1"/>
                </a:solidFill>
              </a:rPr>
              <a:t>3. Knowledge Base</a:t>
            </a:r>
            <a:br>
              <a:rPr lang="en-IN" sz="2000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Failure descriptions → causes → maintenance procedures</a:t>
            </a:r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816</Words>
  <Application>Microsoft Office PowerPoint</Application>
  <PresentationFormat>Widescreen</PresentationFormat>
  <Paragraphs>107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(Body)</vt:lpstr>
      <vt:lpstr>Courier New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Arjun VP</cp:lastModifiedBy>
  <cp:revision>15</cp:revision>
  <dcterms:created xsi:type="dcterms:W3CDTF">2024-05-13T10:33:11Z</dcterms:created>
  <dcterms:modified xsi:type="dcterms:W3CDTF">2026-09-07T07:03:53Z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