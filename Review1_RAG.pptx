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6" r:id="rId6"/>
    <p:sldId id="2147470500" r:id="rId7"/>
    <p:sldId id="2147470497" r:id="rId8"/>
    <p:sldId id="2147470498" r:id="rId9"/>
    <p:sldId id="2147470499" r:id="rId10"/>
    <p:sldId id="2147470491" r:id="rId11"/>
    <p:sldId id="2147470501" r:id="rId12"/>
    <p:sldId id="21474704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 for Automated Assembly Lines Using Quantized SLM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Automated assembly lines require rapid and reliable failure diagnosis to minimize downtime.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Machine failures can reduce production efficiency, equipment availability, and operational reliability.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Cloud-based AI solutions may introduce latency, connectivity, and data-dependency constraints.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Large AI models can also be resource-intensive for edge deployment.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an Edge-Optimized RAG system to provide localized, knowledge-grounded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aims to assist operators with real-time failure identification and mitigation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an Edge-Optimized Retrieval-Augmented Generation (RAG) system for machine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use a Quantized Small Language Model (SLM) suitable for resource-constrained edge devices.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retrieve relevant failure knowledge and maintenance information from a local knowledge base.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localized mitigation recommendations based on the identified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minimize latency, computational requirements, and dependence on cloud connectivity.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support maintenance operators and production engineers in real-time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Dataset: AI4I 2020 Predictive Maintenance Dataset with 10,000 machine records and 14 attributes.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Input Parameters: Temperature, rotational speed, torque, tool wear, and machine operating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Failure Analysis: Classification of TWF, HDF, PWF, OSF, and RNF failure modes.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Knowledge Retrieval: Retrieve relevant failure information and maintenance actions from a local knowledge base.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Edge AI: Use a quantized SLM to reduce memory and computational requirements.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Output: Failure identification with localized mitigation recommendations.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Application: Real-time support for automated assembly-line maintenance.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RAG improves AI responses by grounding generation in retrieved domain knowledge.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Quantization enables language models to operate with significantly lower memory requirements.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Edge-based AI provides advantages in latency, connectivity independence, and data locality.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Existing work largely studies RAG and edge AI independently.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Research Gap: Combining RAG with a quantized SLM for localized, real-time industrial failure mitigation remains an important application area.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757057" y="57036"/>
            <a:ext cx="743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63D4-EC41-491A-8B39-D8580ACF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8C21A-5318-9908-3363-9415BA93EF3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E2894D-24BA-57C3-E33B-988C30CE65A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B208DC-9BF5-55B7-76CE-649E73F232D1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8B862-D5CD-A3C2-B181-220D5EB1D726}"/>
              </a:ext>
            </a:extLst>
          </p:cNvPr>
          <p:cNvSpPr txBox="1"/>
          <p:nvPr/>
        </p:nvSpPr>
        <p:spPr>
          <a:xfrm>
            <a:off x="816429" y="1676400"/>
            <a:ext cx="107224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Dataset contains </a:t>
            </a:r>
            <a:r>
              <a:rPr lang="en-IN" sz="2400" b="1" dirty="0">
                <a:solidFill>
                  <a:schemeClr val="accent1"/>
                </a:solidFill>
              </a:rPr>
              <a:t>10,000 records and 14 features</a:t>
            </a:r>
            <a:r>
              <a:rPr lang="en-IN" sz="2400" dirty="0">
                <a:solidFill>
                  <a:schemeClr val="accent1"/>
                </a:solidFill>
              </a:rPr>
              <a:t>, with no missing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Five specific failure modes are </a:t>
            </a:r>
            <a:r>
              <a:rPr lang="en-IN" sz="2400" dirty="0" err="1">
                <a:solidFill>
                  <a:schemeClr val="accent1"/>
                </a:solidFill>
              </a:rPr>
              <a:t>analyzed</a:t>
            </a:r>
            <a:r>
              <a:rPr lang="en-IN" sz="2400" dirty="0">
                <a:solidFill>
                  <a:schemeClr val="accent1"/>
                </a:solidFill>
              </a:rPr>
              <a:t>: </a:t>
            </a:r>
            <a:r>
              <a:rPr lang="en-IN" sz="2400" b="1" dirty="0">
                <a:solidFill>
                  <a:schemeClr val="accent1"/>
                </a:solidFill>
              </a:rPr>
              <a:t>TWF, HDF, PWF, OSF and RNF</a:t>
            </a:r>
            <a:r>
              <a:rPr lang="en-IN" sz="2400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Sensor telemetry includes </a:t>
            </a:r>
            <a:r>
              <a:rPr lang="en-IN" sz="2400" b="1" dirty="0">
                <a:solidFill>
                  <a:schemeClr val="accent1"/>
                </a:solidFill>
              </a:rPr>
              <a:t>temperature, rotational speed, torque and tool wear</a:t>
            </a:r>
            <a:r>
              <a:rPr lang="en-IN" sz="2400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Correlation analysis identifies relationships among the machine's physical operating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1"/>
                </a:solidFill>
              </a:rPr>
              <a:t>Torque vs. RPM analysis</a:t>
            </a:r>
            <a:r>
              <a:rPr lang="en-IN" sz="2400" dirty="0">
                <a:solidFill>
                  <a:schemeClr val="accent1"/>
                </a:solidFill>
              </a:rPr>
              <a:t> helps identify operating regions associated with mechanical failures.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The dataset is highly imbalanced: </a:t>
            </a:r>
            <a:r>
              <a:rPr lang="en-IN" sz="2400" b="1" dirty="0">
                <a:solidFill>
                  <a:schemeClr val="accent1"/>
                </a:solidFill>
              </a:rPr>
              <a:t>9,652 healthy records vs. 348 failure records</a:t>
            </a:r>
            <a:r>
              <a:rPr lang="en-IN" sz="2400" dirty="0">
                <a:solidFill>
                  <a:schemeClr val="accent1"/>
                </a:solidFill>
              </a:rPr>
              <a:t> across the five failure classes.</a:t>
            </a:r>
          </a:p>
        </p:txBody>
      </p:sp>
    </p:spTree>
    <p:extLst>
      <p:ext uri="{BB962C8B-B14F-4D97-AF65-F5344CB8AC3E}">
        <p14:creationId xmlns:p14="http://schemas.microsoft.com/office/powerpoint/2010/main" val="198681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0C6DD-015B-9F04-4937-96EB7AE2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6" y="1447801"/>
            <a:ext cx="9252856" cy="462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4522-93D0-56DE-F00E-368F1D19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66128-45E6-F449-B97C-8F6A5912FD7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967D56-8EA6-8008-A1ED-84287891746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6112F4-49ED-C2AF-7378-632D426137C0}"/>
              </a:ext>
            </a:extLst>
          </p:cNvPr>
          <p:cNvSpPr txBox="1"/>
          <p:nvPr/>
        </p:nvSpPr>
        <p:spPr>
          <a:xfrm>
            <a:off x="4887687" y="57036"/>
            <a:ext cx="73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4681F-AFFE-4813-3995-7B8C4494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95" y="1847983"/>
            <a:ext cx="5348490" cy="3469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8CC9EC-542D-7A0A-7369-684355D50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217" y="1606049"/>
            <a:ext cx="5079027" cy="395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Resultant Feature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Raw machine telemetry was converted into a </a:t>
            </a:r>
            <a:r>
              <a:rPr lang="en-IN" b="1" dirty="0">
                <a:solidFill>
                  <a:schemeClr val="accent1"/>
                </a:solidFill>
              </a:rPr>
              <a:t>structured modelling dataset</a:t>
            </a:r>
            <a:r>
              <a:rPr lang="en-IN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Irrelevant identifiers such as </a:t>
            </a:r>
            <a:r>
              <a:rPr lang="en-IN" b="1" dirty="0">
                <a:solidFill>
                  <a:schemeClr val="accent1"/>
                </a:solidFill>
              </a:rPr>
              <a:t>UDI and Product ID</a:t>
            </a:r>
            <a:r>
              <a:rPr lang="en-IN" dirty="0">
                <a:solidFill>
                  <a:schemeClr val="accent1"/>
                </a:solidFill>
              </a:rPr>
              <a:t> were removed.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Machine </a:t>
            </a:r>
            <a:r>
              <a:rPr lang="en-IN" dirty="0">
                <a:solidFill>
                  <a:schemeClr val="accent1"/>
                </a:solidFill>
                <a:latin typeface="Courier New" panose="02070309020205020404" pitchFamily="49" charset="0"/>
              </a:rPr>
              <a:t>Type</a:t>
            </a:r>
            <a:r>
              <a:rPr lang="en-IN" dirty="0">
                <a:solidFill>
                  <a:schemeClr val="accent1"/>
                </a:solidFill>
              </a:rPr>
              <a:t> was converted into a numerical representation for modelling.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The original failure indicators were consolidated into a </a:t>
            </a:r>
            <a:r>
              <a:rPr lang="en-IN" b="1" dirty="0">
                <a:solidFill>
                  <a:schemeClr val="accent1"/>
                </a:solidFill>
              </a:rPr>
              <a:t>single </a:t>
            </a:r>
            <a:r>
              <a:rPr lang="en-IN" b="1" dirty="0" err="1">
                <a:solidFill>
                  <a:schemeClr val="accent1"/>
                </a:solidFill>
              </a:rPr>
              <a:t>Fault_Class</a:t>
            </a:r>
            <a:r>
              <a:rPr lang="en-IN" b="1" dirty="0">
                <a:solidFill>
                  <a:schemeClr val="accent1"/>
                </a:solidFill>
              </a:rPr>
              <a:t> target</a:t>
            </a:r>
            <a:r>
              <a:rPr lang="en-IN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Final classes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Healthy — 9,652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HDF — 115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PWF — 91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OSF — 78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TWF — 46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RNF — 18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77D35-822D-810F-148F-0F1D441A5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359" y="1638168"/>
            <a:ext cx="6360510" cy="40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8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594635" y="1705848"/>
            <a:ext cx="60981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4. Retrieval System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Query → relevant failure knowledge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5. Quantized SLM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Retrieved context → grounded response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6. Edge Deployment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Low-latency diagnosis → localized mitigation 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7F781-CA5E-9B16-C872-FBCBFD9A17E1}"/>
              </a:ext>
            </a:extLst>
          </p:cNvPr>
          <p:cNvSpPr txBox="1"/>
          <p:nvPr/>
        </p:nvSpPr>
        <p:spPr>
          <a:xfrm>
            <a:off x="985338" y="5681561"/>
            <a:ext cx="1003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accent1"/>
                </a:solidFill>
              </a:rPr>
              <a:t>Machine Data → Failure Detection → Knowledge Retrieval → Quantized SLM → Diagnosis + Mitigation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DEDB7-2584-62F6-C081-4E9BB9ECA3CE}"/>
              </a:ext>
            </a:extLst>
          </p:cNvPr>
          <p:cNvSpPr txBox="1"/>
          <p:nvPr/>
        </p:nvSpPr>
        <p:spPr>
          <a:xfrm>
            <a:off x="620486" y="1705848"/>
            <a:ext cx="56932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1. Data Preparation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AI4I dataset → cleaning → preprocessing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2. Failure Classification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Healthy / HDF / PWF / OSF / TWF / RNF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3. Knowledge Base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Failure descriptions → causes → maintenance procedures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8FCE1E-EE42-63FA-F500-84A1629BC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4B345-231E-369E-3A71-F5535FE105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376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909457" y="57036"/>
            <a:ext cx="728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E2AC2D-058B-2C5A-78FA-46955F81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05189"/>
              </p:ext>
            </p:extLst>
          </p:nvPr>
        </p:nvGraphicFramePr>
        <p:xfrm>
          <a:off x="370114" y="1336151"/>
          <a:ext cx="11451771" cy="4959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7257">
                  <a:extLst>
                    <a:ext uri="{9D8B030D-6E8A-4147-A177-3AD203B41FA5}">
                      <a16:colId xmlns:a16="http://schemas.microsoft.com/office/drawing/2014/main" val="4034956797"/>
                    </a:ext>
                  </a:extLst>
                </a:gridCol>
                <a:gridCol w="3817257">
                  <a:extLst>
                    <a:ext uri="{9D8B030D-6E8A-4147-A177-3AD203B41FA5}">
                      <a16:colId xmlns:a16="http://schemas.microsoft.com/office/drawing/2014/main" val="2586803103"/>
                    </a:ext>
                  </a:extLst>
                </a:gridCol>
                <a:gridCol w="3817257">
                  <a:extLst>
                    <a:ext uri="{9D8B030D-6E8A-4147-A177-3AD203B41FA5}">
                      <a16:colId xmlns:a16="http://schemas.microsoft.com/office/drawing/2014/main" val="3979886806"/>
                    </a:ext>
                  </a:extLst>
                </a:gridCol>
              </a:tblGrid>
              <a:tr h="323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tx2"/>
                          </a:solidFill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tx2"/>
                          </a:solidFill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tx2"/>
                          </a:solidFill>
                        </a:rPr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747259"/>
                  </a:ext>
                </a:extLst>
              </a:tr>
              <a:tr h="80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Lewis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Retrieval-Augmented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RAG improves generation by grounding responses in retrieved external knowledge.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863541"/>
                  </a:ext>
                </a:extLst>
              </a:tr>
              <a:tr h="80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Guu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Retrieval-Augmented 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Demonstrated improved knowledge-intensive task performance using retrieved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549865"/>
                  </a:ext>
                </a:extLst>
              </a:tr>
              <a:tr h="85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Lewis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RAG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Showed the usefulness of retrieval-based generation for knowledge-intensive applications.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289557"/>
                  </a:ext>
                </a:extLst>
              </a:tr>
              <a:tr h="105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Dettmers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Quantized LLMs / QLoRA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Demonstrated that quantization can significantly reduce memory requirements while retaining useful model performance.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859295"/>
                  </a:ext>
                </a:extLst>
              </a:tr>
              <a:tr h="105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Edge AI / TinyML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>
                          <a:solidFill>
                            <a:schemeClr val="accent1"/>
                          </a:solidFill>
                        </a:rPr>
                        <a:t>On-device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i="1" dirty="0">
                          <a:solidFill>
                            <a:schemeClr val="accent1"/>
                          </a:solidFill>
                        </a:rPr>
                        <a:t>Highlights low latency, reduced connectivity dependence, and resource efficiency as major advantages of edge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5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816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(Body)</vt:lpstr>
      <vt:lpstr>Courier New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VP</cp:lastModifiedBy>
  <cp:revision>16</cp:revision>
  <dcterms:created xsi:type="dcterms:W3CDTF">2024-05-13T10:33:11Z</dcterms:created>
  <dcterms:modified xsi:type="dcterms:W3CDTF">2026-09-07T08:17:21Z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